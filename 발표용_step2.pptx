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0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2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Step 2에 온 걸 환영해요</a:t>
            </a:r>
          </a:p>
        </p:txBody>
      </p:sp>
      <p:pic>
        <p:nvPicPr>
          <p:cNvPr id="3" name="Picture 2" descr="s2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Step 1은 '비유'로 이해했어요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Step 2는 '원리·숫자·순서'로 이해해요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같은 주제를 한 단계 더 깊게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비유 → 원리로 레벨업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아키텍처 자세히</a:t>
            </a:r>
          </a:p>
        </p:txBody>
      </p:sp>
      <p:pic>
        <p:nvPicPr>
          <p:cNvPr id="3" name="Picture 2" descr="s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카메라 처리는 VisionThread(별도 스레드)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결과는 5가지 시그널로 UI에 전달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age_group·face_embedding·gesture·frame_ready·status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스레드 + 시그널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한 프레임 처리 순서</a:t>
            </a:r>
          </a:p>
        </p:txBody>
      </p:sp>
      <p:pic>
        <p:nvPicPr>
          <p:cNvPr id="3" name="Picture 2" descr="s2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좌우반전 → 밝기보정(CLAHE)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얼굴 468점 · 손 21점 추출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연령은 3프레임마다 1번(무거워서)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초당 약 60프레임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임베딩 만들기 4단계</a:t>
            </a:r>
          </a:p>
        </p:txBody>
      </p:sp>
      <p:pic>
        <p:nvPicPr>
          <p:cNvPr id="3" name="Picture 2" descr="s2_emb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① 코를 원점(위치 무관)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② 최대 거리로 나눔(크기 무관)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③ 핵심 24점 → ④ 크기 1로 정규화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= 72차원 숫자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얼굴 → 72개 숫자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코사인 유사도 (수식 직관)</a:t>
            </a:r>
          </a:p>
        </p:txBody>
      </p:sp>
      <p:pic>
        <p:nvPicPr>
          <p:cNvPr id="3" name="Picture 2" descr="s2_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cos θ = a·b / (|a||b|)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정규화하면 내적 한 번으로 계산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값 -1~1, 1에 가까울수록 닮음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방향으로 닮음 재기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유클리드 vs 코사인</a:t>
            </a:r>
          </a:p>
        </p:txBody>
      </p:sp>
      <p:pic>
        <p:nvPicPr>
          <p:cNvPr id="3" name="Picture 2" descr="s2_euc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유클리드=직선거리, 크기에 민감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코사인=방향(패턴) 비교, 잡음에 강함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얼굴 비교엔 코사인이 유리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왜 코사인을 쓰나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평균 얼굴 빼기 (핵심)</a:t>
            </a:r>
          </a:p>
        </p:txBody>
      </p:sp>
      <p:pic>
        <p:nvPicPr>
          <p:cNvPr id="3" name="Picture 2" descr="s2_mean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그냥 비교하면 남남도 0.95↑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평균을 빼면 '개인차'만 남음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q = 정규화(내 얼굴 − 평균 얼굴)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오인식을 막은 결정적 아이디어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단골 인식 파이프라인</a:t>
            </a:r>
          </a:p>
        </p:txBody>
      </p:sp>
      <p:pic>
        <p:nvPicPr>
          <p:cNvPr id="3" name="Picture 2" descr="s2_reg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임베딩 → 평균빼기 → 코사인 비교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임계값(0.70 / 0.999) 통과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연속 8프레임이면 단골 확정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여러 단계로 신중히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오인식 막는 3중 안전장치</a:t>
            </a:r>
          </a:p>
        </p:txBody>
      </p:sp>
      <p:pic>
        <p:nvPicPr>
          <p:cNvPr id="3" name="Picture 2" descr="s2_safety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① 평균 얼굴 빼기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② 연속 8프레임 확정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③ 기준 없을 땐 임계값 0.999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처음 손님을 단골로 착각 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연령 CNN 자세히</a:t>
            </a:r>
          </a:p>
        </p:txBody>
      </p:sp>
      <p:pic>
        <p:nvPicPr>
          <p:cNvPr id="3" name="Picture 2" descr="s2_age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얼굴 잘라 227×227 blob(평균 빼기)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CNN이 8구간 확률 → argmax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0-12=어린이 / 15-43=어른 / 48+=어르신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이미지를 보고 나이 추정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연령 다수결 + 쿨다운</a:t>
            </a:r>
          </a:p>
        </p:txBody>
      </p:sp>
      <p:pic>
        <p:nvPicPr>
          <p:cNvPr id="3" name="Picture 2" descr="s2_agev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매 프레임은 흔들려요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최근 20 중 13↑(과반)일 때만 전환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바꾼 뒤 4초는 다시 안 바꿈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화면 깜빡임 방지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손가락 판정 (히스테리시스)</a:t>
            </a:r>
          </a:p>
        </p:txBody>
      </p:sp>
      <p:pic>
        <p:nvPicPr>
          <p:cNvPr id="3" name="Picture 2" descr="s2_hy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거리비 + 관절 각도 함께 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펴짐 ≥1.15 / 접힘 ≤0.90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그 사이는 직전 상태 유지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경계 플리커 제거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손모양 다수결</a:t>
            </a:r>
          </a:p>
        </p:txBody>
      </p:sp>
      <p:pic>
        <p:nvPicPr>
          <p:cNvPr id="3" name="Picture 2" descr="s2_posev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최근 6프레임을 모아 과반으로 확정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주먹 펴는 '과도기' 오발 제거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연령 다수결과 같은 아이디어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튀지 않는 제스처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One-Euro 필터 원리</a:t>
            </a:r>
          </a:p>
        </p:txBody>
      </p:sp>
      <p:pic>
        <p:nvPicPr>
          <p:cNvPr id="3" name="Picture 2" descr="s2_onee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손 속도에 따라 필터 세기 조절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느리면 강하게(덜 떨림)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빠르면 약하게(덜 느림)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지연·떨림 동시에 잡기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커서 클램프 + 정규화</a:t>
            </a:r>
          </a:p>
        </p:txBody>
      </p:sp>
      <p:pic>
        <p:nvPicPr>
          <p:cNvPr id="3" name="Picture 2" descr="s2_c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한 프레임 최대 이동 제한(순간이동 방지)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손 크기로 임계 정규화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→ 카메라 거리와 무관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커서를 더 안정적으로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에임 · 핀치 · 드웰 상세</a:t>
            </a:r>
          </a:p>
        </p:txBody>
      </p:sp>
      <p:pic>
        <p:nvPicPr>
          <p:cNvPr id="3" name="Picture 2" descr="s2_a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에임=손바닥 커서(필터+클램프)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핀치=6프레임 유지→담기(쿨다운 500ms)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드웰=2초 머무름→진행 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가리키기와 선택을 분리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주먹·엄지척을 뺀 이유</a:t>
            </a:r>
          </a:p>
        </p:txBody>
      </p:sp>
      <p:pic>
        <p:nvPicPr>
          <p:cNvPr id="3" name="Picture 2" descr="s2_dropf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주먹=손가락 가려짐(occlusion)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엄지척=엄지가 가장 흔들림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→ 핀치·드웰로 대체(항상 보이는 점)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거리·위치 기반이 안정적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스와이프 판정</a:t>
            </a:r>
          </a:p>
        </p:txBody>
      </p:sp>
      <p:pic>
        <p:nvPicPr>
          <p:cNvPr id="3" name="Picture 2" descr="s2_sw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열린 손 + 수평 이동일 때만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쿨다운 800ms → 한 번에 한 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커서 이동과 구분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카테고리 넘기기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멀티스레딩 + 시그널</a:t>
            </a:r>
          </a:p>
        </p:txBody>
      </p:sp>
      <p:pic>
        <p:nvPicPr>
          <p:cNvPr id="3" name="Picture 2" descr="s2_th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UI는 항상 반응(안 멈춤)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무거운 카메라 처리는 따로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결과만 시그널(큐로 순서대로)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경쟁조건 없이 안전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GIL 자세히</a:t>
            </a:r>
          </a:p>
        </p:txBody>
      </p:sp>
      <p:pic>
        <p:nvPicPr>
          <p:cNvPr id="3" name="Picture 2" descr="s2_g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파이썬은 한 번에 한 스레드만 실행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하지만 카메라 I/O·C확장은 GIL 해제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그래서 스레드 분리가 효과 있음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스레드가 의미 있는 이유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자연어 주문 파이프라인</a:t>
            </a:r>
          </a:p>
        </p:txBody>
      </p:sp>
      <p:pic>
        <p:nvPicPr>
          <p:cNvPr id="3" name="Picture 2" descr="s2_n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키 있으면 GPT, 없으면 규칙 파서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둘 다 같은 JSON(OrderIntent)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메뉴·개수·세트·음료·사이즈 추출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온·오프라인 모두 동작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언어 감지 규칙</a:t>
            </a:r>
          </a:p>
        </p:txBody>
      </p:sp>
      <p:pic>
        <p:nvPicPr>
          <p:cNvPr id="3" name="Picture 2" descr="s2_langd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한글→ko, 한자→zh, 아니면 en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감지한 언어로 화면 전환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영어로 말하면 UI도 영어로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다국어 자동 전환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DB 스키마 (SQLite)</a:t>
            </a:r>
          </a:p>
        </p:txBody>
      </p:sp>
      <p:pic>
        <p:nvPicPr>
          <p:cNvPr id="3" name="Picture 2" descr="s2_db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regulars: 별명·임베딩·즐겨찾기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orders: 금액·요일·시간(통계)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Lock으로 두 스레드 안전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사진 없이 숫자만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개인정보 자세히</a:t>
            </a:r>
          </a:p>
        </p:txBody>
      </p:sp>
      <p:pic>
        <p:nvPicPr>
          <p:cNvPr id="3" name="Picture 2" descr="s2_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얼굴→72개 숫자(비가역)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사진으로 되돌리기 어려움=익명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로컬(매장 안)에만 저장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따뜻한 AI의 약속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상태머신 + 4모드</a:t>
            </a:r>
          </a:p>
        </p:txBody>
      </p:sp>
      <p:pic>
        <p:nvPicPr>
          <p:cNvPr id="3" name="Picture 2" descr="s2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환영→메뉴→완료(정해진 규칙)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90초 무동작 시 리셋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표준/실버x1.5/어린이x1.3/고대비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화면 흐름과 변신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접근성 총정리</a:t>
            </a:r>
          </a:p>
        </p:txBody>
      </p:sp>
      <p:pic>
        <p:nvPicPr>
          <p:cNvPr id="3" name="Picture 2" descr="s2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연령 자동 변신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TTS(듣기) · STT(말하기)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다국어 지원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누구나 쉽게(배리어프리)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밝기 보정 (과학)</a:t>
            </a:r>
          </a:p>
        </p:txBody>
      </p:sp>
      <p:pic>
        <p:nvPicPr>
          <p:cNvPr id="3" name="Picture 2" descr="s2_cla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어두우면 밝기가 한쪽으로 몰림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CLAHE로 고르게 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→ 어두운 곳에서도 인식률↑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히스토그램 평활화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전체 파이프라인</a:t>
            </a:r>
          </a:p>
        </p:txBody>
      </p:sp>
      <p:pic>
        <p:nvPicPr>
          <p:cNvPr id="3" name="Picture 2" descr="s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시작→비전→변신→단골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→ 주문 → 결제·저장 → 완료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이 순서로 설명 연습!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엔드투엔드 흐름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핵심 숫자 총정리</a:t>
            </a:r>
          </a:p>
        </p:txBody>
      </p:sp>
      <p:pic>
        <p:nvPicPr>
          <p:cNvPr id="3" name="Picture 2" descr="s2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468·21·72 / 8→3·227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0.70·0.999·8 / 20→13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2000ms·90초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숫자로 자신 있게 발표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맑은 고딕"/>
                <a:ea typeface="맑은 고딕"/>
              </a:rPr>
              <a:t>Step 2 정리 &amp; Step 3 예고</a:t>
            </a:r>
          </a:p>
        </p:txBody>
      </p:sp>
      <p:pic>
        <p:nvPicPr>
          <p:cNvPr id="3" name="Picture 2" descr="s2_wra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원리·숫자·순서로 이해 완료!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• 다음은 실제 코드·수식으로 더 깊게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EAF7EF"/>
          </a:solidFill>
          <a:ln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6B45"/>
                </a:solidFill>
                <a:latin typeface="맑은 고딕"/>
                <a:ea typeface="맑은 고딕"/>
              </a:rPr>
              <a:t>🔑 핵심: Step 3 준비 완료되면 알려줘요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0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2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